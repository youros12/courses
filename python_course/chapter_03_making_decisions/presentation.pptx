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FF6FF"/>
            </a:gs>
            <a:gs pos="100000">
              <a:srgbClr val="FFFF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4572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029200"/>
            <a:ext cx="914400" cy="9144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1F2937"/>
                </a:solidFill>
                <a:latin typeface="Arial"/>
              </a:defRPr>
            </a:pPr>
            <a:r>
              <a:t>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563EB"/>
                </a:solidFill>
                <a:latin typeface="Arial"/>
              </a:defRPr>
            </a:pPr>
            <a:r>
              <a:t>Making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3931920"/>
            <a:ext cx="14630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B5563"/>
                </a:solidFill>
                <a:latin typeface="Arial"/>
              </a:defRPr>
            </a:pPr>
            <a:r>
              <a:t>Teaching Programs to Think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F2937"/>
                </a:solidFill>
                <a:latin typeface="Arial"/>
              </a:defRPr>
            </a:pPr>
            <a:r>
              <a:t>Programs Need to Make Choices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9144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B5563"/>
                </a:solidFill>
                <a:latin typeface="Arial"/>
              </a:defRPr>
            </a:pPr>
            <a:r>
              <a:t>In real life, we make decisions every day: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365760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F2937"/>
                </a:solidFill>
                <a:latin typeface="Arial"/>
              </a:defRPr>
            </a:pPr>
            <a:r>
              <a:t>If it's sunny → Go outside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2011680"/>
            <a:ext cx="365760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22860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F2937"/>
                </a:solidFill>
                <a:latin typeface="Arial"/>
              </a:defRPr>
            </a:pPr>
            <a:r>
              <a:t>If it's raining → Stay inside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83280"/>
            <a:ext cx="365760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F2937"/>
                </a:solidFill>
                <a:latin typeface="Arial"/>
              </a:defRPr>
            </a:pPr>
            <a:r>
              <a:t>If age ≥ 18 → Adult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3383280"/>
            <a:ext cx="365760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3657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F2937"/>
                </a:solidFill>
                <a:latin typeface="Arial"/>
              </a:defRPr>
            </a:pPr>
            <a:r>
              <a:t>If price &gt; budget → Can't buy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029200"/>
            <a:ext cx="82296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303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Programs need to make similar decisions!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FF6FF"/>
            </a:gs>
            <a:gs pos="100000">
              <a:srgbClr val="FFFF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F2937"/>
                </a:solidFill>
                <a:latin typeface="Arial"/>
              </a:defRPr>
            </a:pPr>
            <a:r>
              <a:t>Boolean Values: True or False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9144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B5563"/>
                </a:solidFill>
                <a:latin typeface="Arial"/>
              </a:defRPr>
            </a:pPr>
            <a:r>
              <a:t>Boolean is a data type with only two possible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3657600" cy="1645920"/>
          </a:xfrm>
          <a:prstGeom prst="rect">
            <a:avLst/>
          </a:prstGeom>
          <a:solidFill>
            <a:srgbClr val="DCFCE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2C55E"/>
                </a:solidFill>
                <a:latin typeface="Arial"/>
              </a:defRPr>
            </a:pPr>
            <a:r>
              <a:t>True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F2937"/>
                </a:solidFill>
                <a:latin typeface="Arial"/>
              </a:defRPr>
            </a:pPr>
            <a:r>
              <a:t>Yes, Correct,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2103120"/>
            <a:ext cx="3657600" cy="1645920"/>
          </a:xfrm>
          <a:prstGeom prst="rect">
            <a:avLst/>
          </a:prstGeom>
          <a:solidFill>
            <a:srgbClr val="FEE2E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286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F4444"/>
                </a:solidFill>
                <a:latin typeface="Arial"/>
              </a:defRPr>
            </a:pPr>
            <a:r>
              <a:t>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F2937"/>
                </a:solidFill>
                <a:latin typeface="Arial"/>
              </a:defRPr>
            </a:pPr>
            <a:r>
              <a:t>No, Incorrect,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114800"/>
            <a:ext cx="768096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  <a:latin typeface="Arial"/>
              </a:defRPr>
            </a:pPr>
            <a:r>
              <a:t>Examples: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754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F2937"/>
                </a:solidFill>
                <a:latin typeface="Courier New"/>
              </a:defRPr>
            </a:pPr>
            <a:r>
              <a:t>is_sunny = 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212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F2937"/>
                </a:solidFill>
                <a:latin typeface="Courier New"/>
              </a:defRPr>
            </a:pPr>
            <a:r>
              <a:t>is_raining = 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6692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F2937"/>
                </a:solidFill>
                <a:latin typeface="Courier New"/>
              </a:defRPr>
            </a:pPr>
            <a:r>
              <a:t>has_permission = True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F2937"/>
                </a:solidFill>
                <a:latin typeface="Arial"/>
              </a:defRPr>
            </a:pPr>
            <a:r>
              <a:t>Comparison Operators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9144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3840480" cy="12801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  <a:latin typeface="Arial"/>
              </a:defRPr>
            </a:pPr>
            <a:r>
              <a:t>== (Equal to)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5 == 5 → True</a:t>
            </a:r>
          </a:p>
          <a:p>
            <a:r>
              <a:t>5 == 3 → False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554480"/>
            <a:ext cx="3840480" cy="12801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  <a:latin typeface="Arial"/>
              </a:defRPr>
            </a:pPr>
            <a:r>
              <a:t>!= (Not equal to)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0116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5 != 3 → True</a:t>
            </a:r>
          </a:p>
          <a:p>
            <a:r>
              <a:t>5 != 5 → False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08960"/>
            <a:ext cx="3840480" cy="12801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  <a:latin typeface="Arial"/>
              </a:defRPr>
            </a:pPr>
            <a:r>
              <a:t>&gt; (Greater than)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10 &gt; 5 → True</a:t>
            </a:r>
          </a:p>
          <a:p>
            <a:r>
              <a:t>3 &gt; 7 → False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3108960"/>
            <a:ext cx="3840480" cy="12801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  <a:latin typeface="Arial"/>
              </a:defRPr>
            </a:pPr>
            <a:r>
              <a:t>&lt; (Less than)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56616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3 &lt; 7 → True</a:t>
            </a:r>
          </a:p>
          <a:p>
            <a:r>
              <a:t>10 &lt; 5 → False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663440"/>
            <a:ext cx="3840480" cy="12801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7548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  <a:latin typeface="Arial"/>
              </a:defRPr>
            </a:pPr>
            <a:r>
              <a:t>&gt;= (Greater or equal)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2064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5 &gt;= 5 → True</a:t>
            </a:r>
          </a:p>
          <a:p>
            <a:r>
              <a:t>3 &gt;= 7 → False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4663440"/>
            <a:ext cx="3840480" cy="12801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47548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  <a:latin typeface="Arial"/>
              </a:defRPr>
            </a:pPr>
            <a:r>
              <a:t>&lt;= (Less or equal)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512064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5 &lt;= 5 → True</a:t>
            </a:r>
          </a:p>
          <a:p>
            <a:r>
              <a:t>10 &lt;= 5 → False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126480"/>
            <a:ext cx="8229600" cy="548640"/>
          </a:xfrm>
          <a:prstGeom prst="rect">
            <a:avLst/>
          </a:prstGeom>
          <a:solidFill>
            <a:srgbClr val="FEF9C3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2636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937"/>
                </a:solidFill>
                <a:latin typeface="Arial"/>
              </a:defRPr>
            </a:pPr>
            <a:r>
              <a:t>⚠ Important: Use == for comparison, not = (which is for assignment)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FF6FF"/>
            </a:gs>
            <a:gs pos="100000">
              <a:srgbClr val="FFFF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F2937"/>
                </a:solidFill>
                <a:latin typeface="Arial"/>
              </a:defRPr>
            </a:pPr>
            <a:r>
              <a:t>The if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9144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B5563"/>
                </a:solidFill>
                <a:latin typeface="Arial"/>
              </a:defRPr>
            </a:pPr>
            <a:r>
              <a:t>Execute code only if a condition is True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  <a:latin typeface="Arial"/>
              </a:defRPr>
            </a:pPr>
            <a:r>
              <a:t>Syntax: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F2937"/>
                </a:solidFill>
                <a:latin typeface="Courier New"/>
              </a:defRPr>
            </a:pPr>
            <a:r>
              <a:t>if condition:</a:t>
            </a:r>
          </a:p>
          <a:p>
            <a:r>
              <a:t>    # code to execute if True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383280"/>
            <a:ext cx="7680960" cy="1645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  <a:latin typeface="Arial"/>
              </a:defRPr>
            </a:pPr>
            <a:r>
              <a:t>Example: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233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F2937"/>
                </a:solidFill>
                <a:latin typeface="Courier New"/>
              </a:defRPr>
            </a:pPr>
            <a:r>
              <a:t>age = 20</a:t>
            </a:r>
          </a:p>
          <a:p/>
          <a:p>
            <a:r>
              <a:t>if age &gt;= 18:</a:t>
            </a:r>
          </a:p>
          <a:p>
            <a:r>
              <a:t>    print("You are an adult")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303520"/>
            <a:ext cx="7680960" cy="822960"/>
          </a:xfrm>
          <a:prstGeom prst="rect">
            <a:avLst/>
          </a:prstGeom>
          <a:solidFill>
            <a:srgbClr val="FEF9C3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  <a:latin typeface="Arial"/>
              </a:defRPr>
            </a:pPr>
            <a:r>
              <a:t>Key Point: The colon (:) and indentation are required!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F2937"/>
                </a:solidFill>
                <a:latin typeface="Arial"/>
              </a:defRPr>
            </a:pPr>
            <a:r>
              <a:t>The if-else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9144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B5563"/>
                </a:solidFill>
                <a:latin typeface="Arial"/>
              </a:defRPr>
            </a:pPr>
            <a:r>
              <a:t>Do one thing if True, something else if False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  <a:latin typeface="Arial"/>
              </a:defRPr>
            </a:pPr>
            <a:r>
              <a:t>Syntax: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F2937"/>
                </a:solidFill>
                <a:latin typeface="Courier New"/>
              </a:defRPr>
            </a:pPr>
            <a:r>
              <a:t>if condition:</a:t>
            </a:r>
          </a:p>
          <a:p>
            <a:r>
              <a:t>    # code if True</a:t>
            </a:r>
          </a:p>
          <a:p>
            <a:r>
              <a:t>else:</a:t>
            </a:r>
          </a:p>
          <a:p>
            <a:r>
              <a:t>    # code if False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657600"/>
            <a:ext cx="7680960" cy="2286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  <a:latin typeface="Arial"/>
              </a:defRPr>
            </a:pPr>
            <a:r>
              <a:t>Example: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7315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F2937"/>
                </a:solidFill>
                <a:latin typeface="Courier New"/>
              </a:defRPr>
            </a:pPr>
            <a:r>
              <a:t>temperature = 25</a:t>
            </a:r>
          </a:p>
          <a:p/>
          <a:p>
            <a:r>
              <a:t>if temperature &gt; 30:</a:t>
            </a:r>
          </a:p>
          <a:p>
            <a:r>
              <a:t>    print("It's hot!")</a:t>
            </a:r>
          </a:p>
          <a:p>
            <a:r>
              <a:t>else:</a:t>
            </a:r>
          </a:p>
          <a:p>
            <a:r>
              <a:t>    print("It's nice!")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FF6FF"/>
            </a:gs>
            <a:gs pos="100000">
              <a:srgbClr val="FFFF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F2937"/>
                </a:solidFill>
                <a:latin typeface="Arial"/>
              </a:defRPr>
            </a:pPr>
            <a:r>
              <a:t>The if-elif-else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9144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B5563"/>
                </a:solidFill>
                <a:latin typeface="Arial"/>
              </a:defRPr>
            </a:pPr>
            <a:r>
              <a:t>Check multiple conditions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2937"/>
                </a:solidFill>
                <a:latin typeface="Arial"/>
              </a:defRPr>
            </a:pPr>
            <a:r>
              <a:t>Syntax: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7315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if condition1:</a:t>
            </a:r>
          </a:p>
          <a:p>
            <a:r>
              <a:t>    # code if condition1 is True</a:t>
            </a:r>
          </a:p>
          <a:p>
            <a:r>
              <a:t>elif condition2:</a:t>
            </a:r>
          </a:p>
          <a:p>
            <a:r>
              <a:t>    # code if condition2 is True</a:t>
            </a:r>
          </a:p>
          <a:p>
            <a:r>
              <a:t>else:</a:t>
            </a:r>
          </a:p>
          <a:p>
            <a:r>
              <a:t>    # code if all conditions are False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657600"/>
            <a:ext cx="7680960" cy="24688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2937"/>
                </a:solidFill>
                <a:latin typeface="Arial"/>
              </a:defRPr>
            </a:pPr>
            <a:r>
              <a:t>Example: Grade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score = 85</a:t>
            </a:r>
          </a:p>
          <a:p/>
          <a:p>
            <a:r>
              <a:t>if score &gt;= 90:</a:t>
            </a:r>
          </a:p>
          <a:p>
            <a:r>
              <a:t>    print("Grade: A")</a:t>
            </a:r>
          </a:p>
          <a:p>
            <a:r>
              <a:t>elif score &gt;= 80:</a:t>
            </a:r>
          </a:p>
          <a:p>
            <a:r>
              <a:t>    print("Grade: B")</a:t>
            </a:r>
          </a:p>
          <a:p>
            <a:r>
              <a:t>elif score &gt;= 70:</a:t>
            </a:r>
          </a:p>
          <a:p>
            <a:r>
              <a:t>    print("Grade: C")</a:t>
            </a:r>
          </a:p>
          <a:p>
            <a:r>
              <a:t>else:</a:t>
            </a:r>
          </a:p>
          <a:p>
            <a:r>
              <a:t>    print("Grade: F")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F2937"/>
                </a:solidFill>
                <a:latin typeface="Arial"/>
              </a:defRPr>
            </a:pPr>
            <a:r>
              <a:t>Logical Operators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9144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B5563"/>
                </a:solidFill>
                <a:latin typeface="Arial"/>
              </a:defRPr>
            </a:pPr>
            <a:r>
              <a:t>Combine multiple conditions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8229600" cy="12801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Arial"/>
              </a:defRPr>
            </a:pPr>
            <a:r>
              <a:t>and (Both must be True)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True and True → True</a:t>
            </a:r>
          </a:p>
          <a:p>
            <a:r>
              <a:t>True and False → False</a:t>
            </a:r>
          </a:p>
          <a:p>
            <a:r>
              <a:t>False and False → False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063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937"/>
                </a:solidFill>
                <a:latin typeface="Arial"/>
              </a:defRPr>
            </a:pPr>
            <a:r>
              <a:t>Example: age &gt;= 18 and has_license == True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Arial"/>
              </a:defRPr>
            </a:pPr>
            <a:r>
              <a:t>or (At least one must be True)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True or True → True</a:t>
            </a:r>
          </a:p>
          <a:p>
            <a:r>
              <a:t>True or False → True</a:t>
            </a:r>
          </a:p>
          <a:p>
            <a:r>
              <a:t>False or False → False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526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937"/>
                </a:solidFill>
                <a:latin typeface="Arial"/>
              </a:defRPr>
            </a:pPr>
            <a:r>
              <a:t>Example: is_weekend or is_holiday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9834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Arial"/>
              </a:defRPr>
            </a:pPr>
            <a:r>
              <a:t>not (Reverses the value)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492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not True → False</a:t>
            </a:r>
          </a:p>
          <a:p>
            <a:r>
              <a:t>not False → True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FF6FF"/>
            </a:gs>
            <a:gs pos="100000">
              <a:srgbClr val="FFFF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F2937"/>
                </a:solidFill>
                <a:latin typeface="Arial"/>
              </a:defRPr>
            </a:pPr>
            <a:r>
              <a:t>Real-World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9144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Arial"/>
              </a:defRPr>
            </a:pPr>
            <a:r>
              <a:t>Movie Ticket 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6858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age = int(input("Enter your age: "))</a:t>
            </a:r>
          </a:p>
          <a:p>
            <a:r>
              <a:t>is_student = input("Are you a student? (yes/no): ")</a:t>
            </a:r>
          </a:p>
          <a:p/>
          <a:p>
            <a:r>
              <a:t>if age &lt; 12:</a:t>
            </a:r>
          </a:p>
          <a:p>
            <a:r>
              <a:t>    price = 5</a:t>
            </a:r>
          </a:p>
          <a:p>
            <a:r>
              <a:t>    print("Child ticket: $5")</a:t>
            </a:r>
          </a:p>
          <a:p>
            <a:r>
              <a:t>elif age &gt;= 65:</a:t>
            </a:r>
          </a:p>
          <a:p>
            <a:r>
              <a:t>    price = 7</a:t>
            </a:r>
          </a:p>
          <a:p>
            <a:r>
              <a:t>    print("Senior ticket: $7")</a:t>
            </a:r>
          </a:p>
          <a:p>
            <a:r>
              <a:t>elif is_student == "yes":</a:t>
            </a:r>
          </a:p>
          <a:p>
            <a:r>
              <a:t>    price = 8</a:t>
            </a:r>
          </a:p>
          <a:p>
            <a:r>
              <a:t>    print("Student ticket: $8")</a:t>
            </a:r>
          </a:p>
          <a:p>
            <a:r>
              <a:t>else:</a:t>
            </a:r>
          </a:p>
          <a:p>
            <a:r>
              <a:t>    price = 12</a:t>
            </a:r>
          </a:p>
          <a:p>
            <a:r>
              <a:t>    print("Regular ticket: $12")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563EB"/>
            </a:gs>
            <a:gs pos="100000">
              <a:srgbClr val="3B82F6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Arial"/>
              </a:defRPr>
            </a:pPr>
            <a:r>
              <a:t>Time to Decide!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0040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Arial"/>
              </a:defRPr>
            </a:pPr>
            <a:r>
              <a:t>Open the practice notebook and start making smart programs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3931920"/>
            <a:ext cx="14630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</a:defRPr>
            </a:pPr>
            <a:r>
              <a:t>Your programs are about to get much smarter!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