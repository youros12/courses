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Chapter 1: Introduction to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Your First Steps in Programming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is Programming?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1887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91440">
            <a:spAutoFit/>
          </a:bodyPr>
          <a:lstStyle/>
          <a:p>
            <a:pPr>
              <a:defRPr sz="2400" b="1">
                <a:solidFill>
                  <a:srgbClr val="3B82F6"/>
                </a:solidFill>
              </a:defRPr>
            </a:pPr>
            <a:r>
              <a:t>• Giving Instructions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Writing step-by-step commands for a computer to follow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11887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91440">
            <a:spAutoFit/>
          </a:bodyPr>
          <a:lstStyle/>
          <a:p>
            <a:pPr>
              <a:defRPr sz="2400" b="1">
                <a:solidFill>
                  <a:srgbClr val="3B82F6"/>
                </a:solidFill>
              </a:defRPr>
            </a:pPr>
            <a:r>
              <a:t>• Solving Problems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Breaking down complex tasks into simple, logical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11887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91440">
            <a:spAutoFit/>
          </a:bodyPr>
          <a:lstStyle/>
          <a:p>
            <a:pPr>
              <a:defRPr sz="2400" b="1">
                <a:solidFill>
                  <a:srgbClr val="3B82F6"/>
                </a:solidFill>
              </a:defRPr>
            </a:pPr>
            <a:r>
              <a:t>• Speaking Computer Language</a:t>
            </a:r>
          </a:p>
          <a:p>
            <a:pPr>
              <a:spcBef>
                <a:spcPts val="600"/>
              </a:spcBef>
              <a:defRPr sz="1800">
                <a:solidFill>
                  <a:srgbClr val="1E293B"/>
                </a:solidFill>
              </a:defRPr>
            </a:pPr>
            <a:r>
              <a:t>Using code to communicate your ideas to machines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Why Learn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3566160" cy="1828800"/>
          </a:xfrm>
          <a:prstGeom prst="rect">
            <a:avLst/>
          </a:prstGeom>
          <a:solidFill>
            <a:srgbClr val="DBEAFE"/>
          </a:solidFill>
          <a:ln w="38100">
            <a:solidFill>
              <a:srgbClr val="3B82F6"/>
            </a:solidFill>
          </a:ln>
        </p:spPr>
        <p:txBody>
          <a:bodyPr wrap="square" lIns="137160" rIns="137160" tIns="274320" anchor="t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Easy to Learn</a:t>
            </a:r>
          </a:p>
          <a:p>
            <a:pPr algn="ctr">
              <a:spcBef>
                <a:spcPts val="1200"/>
              </a:spcBef>
              <a:defRPr sz="1600">
                <a:solidFill>
                  <a:srgbClr val="1E293B"/>
                </a:solidFill>
              </a:defRPr>
            </a:pPr>
            <a:r>
              <a:t>Simple syntax that reads like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828800"/>
            <a:ext cx="3566160" cy="1828800"/>
          </a:xfrm>
          <a:prstGeom prst="rect">
            <a:avLst/>
          </a:prstGeom>
          <a:solidFill>
            <a:srgbClr val="DBEAFE"/>
          </a:solidFill>
          <a:ln w="38100">
            <a:solidFill>
              <a:srgbClr val="3B82F6"/>
            </a:solidFill>
          </a:ln>
        </p:spPr>
        <p:txBody>
          <a:bodyPr wrap="square" lIns="137160" rIns="137160" tIns="274320" anchor="t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Powerful</a:t>
            </a:r>
          </a:p>
          <a:p>
            <a:pPr algn="ctr">
              <a:spcBef>
                <a:spcPts val="1200"/>
              </a:spcBef>
              <a:defRPr sz="1600">
                <a:solidFill>
                  <a:srgbClr val="1E293B"/>
                </a:solidFill>
              </a:defRPr>
            </a:pPr>
            <a:r>
              <a:t>Can build anything from websites to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3566160" cy="1828800"/>
          </a:xfrm>
          <a:prstGeom prst="rect">
            <a:avLst/>
          </a:prstGeom>
          <a:solidFill>
            <a:srgbClr val="DBEAFE"/>
          </a:solidFill>
          <a:ln w="38100">
            <a:solidFill>
              <a:srgbClr val="3B82F6"/>
            </a:solidFill>
          </a:ln>
        </p:spPr>
        <p:txBody>
          <a:bodyPr wrap="square" lIns="137160" rIns="137160" tIns="274320" anchor="t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Versatile</a:t>
            </a:r>
          </a:p>
          <a:p>
            <a:pPr algn="ctr">
              <a:spcBef>
                <a:spcPts val="1200"/>
              </a:spcBef>
              <a:defRPr sz="1600">
                <a:solidFill>
                  <a:srgbClr val="1E293B"/>
                </a:solidFill>
              </a:defRPr>
            </a:pPr>
            <a:r>
              <a:t>Used in web, data, science,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566160" cy="1828800"/>
          </a:xfrm>
          <a:prstGeom prst="rect">
            <a:avLst/>
          </a:prstGeom>
          <a:solidFill>
            <a:srgbClr val="DBEAFE"/>
          </a:solidFill>
          <a:ln w="38100">
            <a:solidFill>
              <a:srgbClr val="3B82F6"/>
            </a:solidFill>
          </a:ln>
        </p:spPr>
        <p:txBody>
          <a:bodyPr wrap="square" lIns="137160" rIns="137160" tIns="274320" anchor="t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Popular</a:t>
            </a:r>
          </a:p>
          <a:p>
            <a:pPr algn="ctr">
              <a:spcBef>
                <a:spcPts val="1200"/>
              </a:spcBef>
              <a:defRPr sz="1600">
                <a:solidFill>
                  <a:srgbClr val="1E293B"/>
                </a:solidFill>
              </a:defRPr>
            </a:pPr>
            <a:r>
              <a:t>Huge community and tons of 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Variables: Storing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E293B"/>
                </a:solidFill>
              </a:defRPr>
            </a:pPr>
            <a:r>
              <a:t>Variables are like labeled boxes that store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1E293B"/>
                </a:solidFill>
                <a:latin typeface="Courier New"/>
              </a:defRPr>
            </a:pPr>
            <a:r>
              <a:t>name = "Alice"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54864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1E293B"/>
                </a:solidFill>
                <a:latin typeface="Courier New"/>
              </a:defRPr>
            </a:pPr>
            <a:r>
              <a:t>age =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54864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1E293B"/>
                </a:solidFill>
                <a:latin typeface="Courier New"/>
              </a:defRPr>
            </a:pPr>
            <a:r>
              <a:t>height = 5.6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Data Types: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01168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274320" tIns="182880">
            <a:spAutoFit/>
          </a:bodyPr>
          <a:lstStyle/>
          <a:p>
            <a:pPr>
              <a:defRPr sz="2800" b="1">
                <a:solidFill>
                  <a:srgbClr val="3B82F6"/>
                </a:solidFill>
              </a:defRPr>
            </a:pPr>
            <a:r>
              <a:t>Integers (Whole Numbers)</a:t>
            </a:r>
          </a:p>
          <a:p>
            <a:pPr>
              <a:spcBef>
                <a:spcPts val="1200"/>
              </a:spcBef>
              <a:defRPr sz="2400">
                <a:solidFill>
                  <a:srgbClr val="1E293B"/>
                </a:solidFill>
                <a:latin typeface="Courier New"/>
              </a:defRPr>
            </a:pPr>
            <a:r>
              <a:t>count = 42</a:t>
            </a:r>
            <a:br/>
            <a:r>
              <a:t>score = 100</a:t>
            </a:r>
            <a:br/>
            <a:r>
              <a:t>year =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201168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274320" tIns="182880">
            <a:spAutoFit/>
          </a:bodyPr>
          <a:lstStyle/>
          <a:p>
            <a:pPr>
              <a:defRPr sz="2800" b="1">
                <a:solidFill>
                  <a:srgbClr val="3B82F6"/>
                </a:solidFill>
              </a:defRPr>
            </a:pPr>
            <a:r>
              <a:t>Floats (Decimal Numbers)</a:t>
            </a:r>
          </a:p>
          <a:p>
            <a:pPr>
              <a:spcBef>
                <a:spcPts val="1200"/>
              </a:spcBef>
              <a:defRPr sz="2400">
                <a:solidFill>
                  <a:srgbClr val="1E293B"/>
                </a:solidFill>
                <a:latin typeface="Courier New"/>
              </a:defRPr>
            </a:pPr>
            <a:r>
              <a:t>price = 19.99</a:t>
            </a:r>
            <a:br/>
            <a:r>
              <a:t>temperature = 98.6</a:t>
            </a:r>
            <a:br/>
            <a:r>
              <a:t>pi = 3.14159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Data Types: Text (Strings)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E293B"/>
                </a:solidFill>
              </a:defRPr>
            </a:pPr>
            <a:r>
              <a:t>Strings are text wrapped in quotes (single or double)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6400800" cy="91440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Single Quotes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message = 'Hello, World!'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49039"/>
            <a:ext cx="6400800" cy="91440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Double Quotes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greeting = "Welcome to Python"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937759"/>
            <a:ext cx="6400800" cy="91440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Multi-word Text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sentence = "Learning Python is fun!"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Math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Addition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+ 5  #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Subtraction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10 - 5  #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Multiplication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* 5  # 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Division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/ 5  #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2004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Power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** 2  #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4572000"/>
            <a:ext cx="4114800" cy="100584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none" lIns="182880" tIns="13716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Remainder</a:t>
            </a:r>
          </a:p>
          <a:p>
            <a:pPr>
              <a:spcBef>
                <a:spcPts val="600"/>
              </a:spcBef>
              <a:defRPr sz="2200">
                <a:solidFill>
                  <a:srgbClr val="1E293B"/>
                </a:solidFill>
                <a:latin typeface="Courier New"/>
              </a:defRPr>
            </a:pPr>
            <a:r>
              <a:t>10 % 3  #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print()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1E293B"/>
                </a:solidFill>
              </a:defRPr>
            </a:pPr>
            <a:r>
              <a:t>Display output to the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64008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137160">
            <a:spAutoFit/>
          </a:bodyPr>
          <a:lstStyle/>
          <a:p>
            <a:pPr>
              <a:defRPr sz="2200">
                <a:solidFill>
                  <a:srgbClr val="1E293B"/>
                </a:solidFill>
                <a:latin typeface="Courier New"/>
              </a:defRPr>
            </a:pPr>
            <a:r>
              <a:t>print("Hello, World!")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64008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137160">
            <a:spAutoFit/>
          </a:bodyPr>
          <a:lstStyle/>
          <a:p>
            <a:pPr>
              <a:defRPr sz="2200">
                <a:solidFill>
                  <a:srgbClr val="1E293B"/>
                </a:solidFill>
                <a:latin typeface="Courier New"/>
              </a:defRPr>
            </a:pPr>
            <a:r>
              <a:t>print(42)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64008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137160">
            <a:spAutoFit/>
          </a:bodyPr>
          <a:lstStyle/>
          <a:p>
            <a:pPr>
              <a:defRPr sz="2200">
                <a:solidFill>
                  <a:srgbClr val="1E293B"/>
                </a:solidFill>
                <a:latin typeface="Courier New"/>
              </a:defRPr>
            </a:pPr>
            <a:r>
              <a:t>name = "Alice"</a:t>
            </a:r>
            <a:br/>
            <a:r>
              <a:t>print(name)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6400800" cy="73152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txBody>
          <a:bodyPr wrap="square" lIns="182880" tIns="137160">
            <a:spAutoFit/>
          </a:bodyPr>
          <a:lstStyle/>
          <a:p>
            <a:pPr>
              <a:defRPr sz="2200">
                <a:solidFill>
                  <a:srgbClr val="1E293B"/>
                </a:solidFill>
                <a:latin typeface="Courier New"/>
              </a:defRPr>
            </a:pPr>
            <a:r>
              <a:t>print(10 + 5)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</p:spPr>
        <p:txBody>
          <a:bodyPr wrap="none" tIns="182880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Putting It All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3B82F6"/>
                </a:solidFill>
              </a:defRPr>
            </a:pPr>
            <a:r>
              <a:t>A Simple Calculator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6949440" cy="3840480"/>
          </a:xfrm>
          <a:prstGeom prst="rect">
            <a:avLst/>
          </a:prstGeom>
          <a:solidFill>
            <a:srgbClr val="DBEAFE"/>
          </a:solidFill>
          <a:ln w="38100">
            <a:solidFill>
              <a:srgbClr val="3B82F6"/>
            </a:solidFill>
          </a:ln>
        </p:spPr>
        <p:txBody>
          <a:bodyPr wrap="square" lIns="274320" tIns="274320">
            <a:spAutoFit/>
          </a:bodyPr>
          <a:lstStyle/>
          <a:p>
            <a:pPr>
              <a:defRPr sz="2000">
                <a:solidFill>
                  <a:srgbClr val="1E293B"/>
                </a:solidFill>
                <a:latin typeface="Courier New"/>
              </a:defRPr>
            </a:pPr>
            <a:r>
              <a:t># Store numbers in variables</a:t>
            </a:r>
            <a:br/>
            <a:r>
              <a:t>num1 = 10</a:t>
            </a:r>
            <a:br/>
            <a:r>
              <a:t>num2 = 5</a:t>
            </a:r>
            <a:br/>
            <a:br/>
            <a:r>
              <a:t># Perform calculations</a:t>
            </a:r>
            <a:br/>
            <a:r>
              <a:t>sum_result = num1 + num2</a:t>
            </a:r>
            <a:br/>
            <a:r>
              <a:t>difference = num1 - num2</a:t>
            </a:r>
            <a:br/>
            <a:r>
              <a:t>product = num1 * num2</a:t>
            </a:r>
            <a:br/>
            <a:br/>
            <a:r>
              <a:t># Display results</a:t>
            </a:r>
            <a:br/>
            <a:r>
              <a:t>print("Sum:", sum_result)</a:t>
            </a:r>
            <a:br/>
            <a:r>
              <a:t>print("Difference:", difference)</a:t>
            </a:r>
            <a:br/>
            <a:r>
              <a:t>print("Product:", product)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Practice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Try creating your own variables,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performing calculations,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and printing the results!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029200"/>
            <a:ext cx="4572000" cy="73152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</a:defRPr>
            </a:pPr>
            <a:r>
              <a:t>Open your Python environment and code!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