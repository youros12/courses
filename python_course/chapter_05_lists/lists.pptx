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4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28800"/>
            <a:ext cx="274320" cy="502920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t>Chapter 5: Lists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4114800"/>
            <a:ext cx="6702552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0" y="4297680"/>
            <a:ext cx="633679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Working with Ordered Collections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What Are Lists?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Lists: Ordered collections of items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Can contain any data types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Mutable (can be changed)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Indexed starting at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0603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5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Creating Lists: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63239"/>
            <a:ext cx="10789920" cy="10972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063239"/>
            <a:ext cx="73152" cy="10972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108959"/>
            <a:ext cx="10241280" cy="1005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fruits = ["apple", "banana", "orange"]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numbers = [1, 2, 3, 4, 5]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mixed = [1, "hello", 3.14, True]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empty = []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2976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3434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Why Use Lists?: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8006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Store multiple related items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0749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Organize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349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Iterate through collections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6235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Build dynamic datasets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Accessing List Elements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Indexing: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fruits = ["apple", "banana", "orange"]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774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fruits[0]  # "apple"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517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fruits[1]  # "banana"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260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fruits[-1]  # "orange" (last)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15467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0039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Slicing: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61187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65759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fruits[0:2]  # ["apple", "banana"]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0690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114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fruits[1:]   # ["banana", "orange"]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5262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5720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fruits[:2]   # ["apple", "banana"]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9834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0292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Length: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4864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len(fruits)  # 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71500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7607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Checking Membership: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Accessing List Elements (continued)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"apple" in fruits  # True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"grape" not in fruits  # True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Modifying Lists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Adding Items: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fruits.append("grape")  # Add to 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fruits.insert(1, "mango")  # Insert at index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fruits.extend(["kiwi", "pear"])  # Add multiple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60603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5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Removing Items: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089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fruits.remove("banana")  # Remove by value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337559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337559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383279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item = fruits.pop()  # Remove and return last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item = fruits.pop(0)  # Remove by index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60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del fruits[1]  # Delete by index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4348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fruits.clear()  # Remove all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66344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70915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Changing Items: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12064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512064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166359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fruits[0] = "pineapple"  # Change by index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List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Sorting: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numbers.sort()  # Sort in place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5740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numbers.sort(reverse=True)  # Descending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sorted_nums = sorted(numbers)  # Return sorted copy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83464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8803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Reversing: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375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numbers.reverse()  # Reverse in place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56616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56616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11879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reversed_nums = numbers[::-1]  # Copy reversed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11480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160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Other Methods: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6177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numbers.count(5)  # Count occurrences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920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numbers.index(3)  # Find first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1663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numbers.copy()  # Shallow copy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394959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544067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Concatenation: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8978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list1 + list2  # Combine lists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List Methods (continued)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[1, 2] * 3  # [1, 2, 1, 2, 1, 2]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Iterating Through Lists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Basic Iteration: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for fruit in fruits: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print(fruit)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603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060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With Index (enumerate):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1752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01752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06324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for i, fruit in enumerate(fruits):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print(f"{i}: {fruit}")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8404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With Index (range):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25196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25196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29768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for i in range(len(fruits)):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print(f"{i}: {fruits[i]}")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02920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0749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List Comprehensions: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48640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548640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53212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squares = [x**2 for x in range(10)]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evens = [x for x in numbers if x % 2 == 0]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Iterating Through Lists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Processing: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8686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8686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total = sum(numbers)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maximum = max(numbers)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minimum = min(numbers)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3657600" cy="13716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1352" y="4114800"/>
            <a:ext cx="3657600" cy="13716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Nested Lists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Nested Lists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Lists Within Lists: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10972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10972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1005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matrix = [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[1, 2, 3],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[4, 5, 6],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[7, 8, 9]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632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29184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3375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Accessing: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947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matrix[0]  # [1, 2, 3]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06908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matrix[0][0]  #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434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matrix[1][2]  # 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57200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6177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Iterating: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029200"/>
            <a:ext cx="10789920" cy="8686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5029200"/>
            <a:ext cx="73152" cy="8686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074920"/>
            <a:ext cx="102412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for row in matrix: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for item in row: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print(item)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Nested Lists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Use Cases: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2D grids and boards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Tables of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Coordinates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517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Multi-dimensional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Common List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Building Lists: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8686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8686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numbers = []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for i in range(10):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numbers.append(i * 2)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78892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834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Filtering: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46120"/>
            <a:ext cx="10789920" cy="10972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246120"/>
            <a:ext cx="73152" cy="10972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91840"/>
            <a:ext cx="10241280" cy="1005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evens = []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for num in numbers: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if num % 2 == 0: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evens.append(num)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4805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5262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Finding Maximum: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937760"/>
            <a:ext cx="10789920" cy="10972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937760"/>
            <a:ext cx="73152" cy="10972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983480"/>
            <a:ext cx="10241280" cy="10058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max_val = numbers[0]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for num in numbers: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if num &gt; max_val: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        max_val = num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Common List Patterns (continued)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Copying Lists: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78308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copy = original.copy()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3774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333333"/>
                </a:solidFill>
              </a:defRPr>
            </a:pPr>
            <a:r>
              <a:t>copy = original[:]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60604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260604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51760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copy = list(original)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List Best Practices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Do: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Use descriptive names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10789920" cy="6400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057400"/>
            <a:ext cx="73152" cy="6400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03120"/>
            <a:ext cx="10241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• Check for empty: if my_list:</a:t>
            </a:r>
          </a:p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• Use list comprehensions for simple cases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8036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Initialize before building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10896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15467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Avoid: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566160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566160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611879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• Modifying list while iterating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160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Using list as default parameter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43484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Deep nesting (max 2-3 levels)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66344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709159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Common Mistakes: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16635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Index out of range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44067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Confusing append() and extend()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71499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Forgetting lists are mutable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0"/>
            <a:ext cx="137160" cy="576072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List Best Practices (continued)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Not copying when needed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11430000" cy="365760"/>
          </a:xfrm>
          <a:prstGeom prst="rect">
            <a:avLst/>
          </a:prstGeom>
          <a:solidFill>
            <a:srgbClr val="0078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459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Performance: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append() is fast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39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1">
              <a:defRPr sz="1600">
                <a:solidFill>
                  <a:srgbClr val="333333"/>
                </a:solidFill>
              </a:defRPr>
            </a:pPr>
            <a:r>
              <a:t>• insert(0, x) is slow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606039"/>
            <a:ext cx="10789920" cy="41148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06039"/>
            <a:ext cx="73152" cy="411480"/>
          </a:xfrm>
          <a:prstGeom prst="rect">
            <a:avLst/>
          </a:prstGeom>
          <a:solidFill>
            <a:srgbClr val="61AF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51759"/>
            <a:ext cx="10241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ABB2BF"/>
                </a:solidFill>
                <a:latin typeface="Consolas"/>
              </a:defRPr>
            </a:pPr>
            <a:r>
              <a:t>• Use deque for frequent insertions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3657600" cy="13716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31352" y="4114800"/>
            <a:ext cx="3657600" cy="137160"/>
          </a:xfrm>
          <a:prstGeom prst="rect">
            <a:avLst/>
          </a:prstGeom>
          <a:solidFill>
            <a:srgbClr val="FFB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Time to Practice!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38912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Chapter 5 Exercises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