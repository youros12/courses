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457200"/>
            <a:ext cx="1828800" cy="1828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0"/>
            <a:ext cx="1371600" cy="1371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Chapter 4: Repetition with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563EB"/>
                </a:solidFill>
              </a:defRPr>
            </a:pPr>
            <a:r>
              <a:t>Automating Repetitive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Why Do We Need Loops?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B5563"/>
                </a:solidFill>
              </a:defRPr>
            </a:pPr>
            <a:r>
              <a:t>Imagine you need to print 'Hello' 100 times...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3840480" cy="228600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Without Loops (Bad!) ❌</a:t>
            </a:r>
          </a:p>
          <a:p>
            <a:pPr>
              <a:defRPr sz="1600">
                <a:solidFill>
                  <a:srgbClr val="1F2937"/>
                </a:solidFill>
                <a:latin typeface="Courier New"/>
              </a:defRPr>
            </a:pPr>
            <a:r>
              <a:t>print("Hello")</a:t>
            </a:r>
            <a:br/>
            <a:r>
              <a:t>print("Hello")</a:t>
            </a:r>
            <a:br/>
            <a:r>
              <a:t>print("Hello")</a:t>
            </a:r>
          </a:p>
          <a:p>
            <a:pPr algn="ctr">
              <a:defRPr sz="1600">
                <a:solidFill>
                  <a:srgbClr val="9CA3AF"/>
                </a:solidFill>
              </a:defRPr>
            </a:pPr>
            <a:r>
              <a:t>... 97 more times 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2560320"/>
            <a:ext cx="3840480" cy="2286000"/>
          </a:xfrm>
          <a:prstGeom prst="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With Loops (Good!) ✅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range(100):</a:t>
            </a:r>
            <a:br/>
            <a:r>
              <a:t>    print("Hello")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Loops let us repeat code efficiently!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While Loops: Repeat While True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B5563"/>
                </a:solidFill>
              </a:defRPr>
            </a:pPr>
            <a:r>
              <a:t>A while loop repeats as long as a condition is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Syntax: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657600" cy="13716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while condition: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# code to repeat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# update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Example: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926080"/>
            <a:ext cx="4114800" cy="18288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count = 1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while count &lt;= 5: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print(count)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count = count + 1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 1 2 3 4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⚠️ Important: You must update the condition inside the loop, or it will run forever (infinite loop)!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While Loops with Counters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Countdown Example: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3931920" cy="22860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count = 5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while count &gt; 0: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print(count)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count -= 1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print('Blastoff!')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5 4 3 2 1 Blastoff!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Sum Example: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194560"/>
            <a:ext cx="3840480" cy="22860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total = 0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num = 1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while num &lt;= 5: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total += num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num += 1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print(total)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💡 Tip: Use += and -= for cleaner counter updates!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While Loops with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User Input Example: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password = ""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while password != "python123":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password = input("Enter password: ")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print("Access granted!")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Validation Example: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age = -1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while age &lt; 0 or age &gt; 120: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age = int(input("Enter your age: "))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print(f"You are {age} years old")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For Loops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B5563"/>
                </a:solidFill>
              </a:defRPr>
            </a:pPr>
            <a:r>
              <a:t>For loops iterate through sequences (strings, lists, ranges)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Iterating Through a String: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4114800" cy="201168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word = "Python"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letter in word: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print(letter)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P y t h o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Counting Characters: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926080"/>
            <a:ext cx="3657600" cy="201168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count = 0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char in "Hello":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count += 1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print(count)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💡 The loop variable (e.g., 'letter', 'char') takes each value in sequence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The range()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B5563"/>
                </a:solidFill>
              </a:defRPr>
            </a:pPr>
            <a:r>
              <a:t>range() generates sequences of numbers - perfect for loops!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range(stop):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27432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range(5):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0 1 2 3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range(start, stop):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926080"/>
            <a:ext cx="27432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range(1, 6):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1 2 3 4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t>range(start, stop, step):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926080"/>
            <a:ext cx="219456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range(0, 11, 2):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0 2 4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6 8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⚠️ Remember: range() stops BEFORE the stop value!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More range()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Count by 10s: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41148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range(0, 101, 10):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0 10 20 30 ...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Countdown: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194560"/>
            <a:ext cx="36576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range(10, 0, -1):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10 9 8 ...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Odd Numbers: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41148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range(1, 10, 2):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1 3 5 7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Even Numbers: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480560"/>
            <a:ext cx="36576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range(0, 10, 2):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0 2 4 6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Break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B5563"/>
                </a:solidFill>
              </a:defRPr>
            </a:pPr>
            <a:r>
              <a:t>The break statement exits a loop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Find First Match: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4114800" cy="22860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num in range(1, 100):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if num % 7 == 0: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print(f"Found: {num}")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break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 Found: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Exit on Condition: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926080"/>
            <a:ext cx="3657600" cy="22860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while True: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answer = input("Continue? ")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if answer == "no":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💡 Use break when you find what you're looking for and don't need to continue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Continue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B5563"/>
                </a:solidFill>
              </a:defRPr>
            </a:pPr>
            <a:r>
              <a:t>The continue statement skips the rest of the current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Skip Odd Numbers: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4114800" cy="22860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range(10):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if i % 2 == 1: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continue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 0 2 4 6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Skip Vowels: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926080"/>
            <a:ext cx="3657600" cy="22860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char in "Python":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if char in "aeiou":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continue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print(char)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 P y t h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💡 Use continue when you want to skip certain items but keep looping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Nested Loops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B5563"/>
                </a:solidFill>
              </a:defRPr>
            </a:pPr>
            <a:r>
              <a:t>Nested loops: a loop inside another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Multiplication Table: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4114800" cy="25603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range(1, 4):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for j in range(1, 4):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print(i * j, end=" ")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1 2 3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2 4 6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3 6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Star Pattern: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926080"/>
            <a:ext cx="3657600" cy="25603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range(1, 5):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for j in range(i):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print("*", end="")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Output: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*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**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***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****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Calculate Sum: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7432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total = 0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range(1, 101):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total += i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print(total)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5050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Find Average: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194560"/>
            <a:ext cx="256032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scores = [85, 92, 78]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total = 0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s in scores: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total += s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avg = total /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Factorial: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94560"/>
            <a:ext cx="237744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n = 5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result = 1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range(1, n+1):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result *= i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# 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Input Validation: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41148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attempt in range(3):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password = input("Password: ")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if password == "secret":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break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Search: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480560"/>
            <a:ext cx="36576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names = ["Alice", "Bob"]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name in names: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if name == "Bob":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    print("Found!")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Which Loop to Use When?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3931920" cy="18288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Use WHILE when:</a:t>
            </a:r>
          </a:p>
          <a:p>
            <a:pPr>
              <a:spcBef>
                <a:spcPts val="1000"/>
              </a:spcBef>
              <a:defRPr sz="1800">
                <a:solidFill>
                  <a:srgbClr val="1F2937"/>
                </a:solidFill>
              </a:defRPr>
            </a:pPr>
            <a:r>
              <a:t>• You don't know how many times to loop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You need to loop until a condition changes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User input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828800"/>
            <a:ext cx="3931920" cy="1828800"/>
          </a:xfrm>
          <a:prstGeom prst="rect">
            <a:avLst/>
          </a:prstGeom>
          <a:solidFill>
            <a:srgbClr val="DCFCE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Use FOR when:</a:t>
            </a:r>
          </a:p>
          <a:p>
            <a:pPr>
              <a:spcBef>
                <a:spcPts val="1000"/>
              </a:spcBef>
              <a:defRPr sz="1800">
                <a:solidFill>
                  <a:srgbClr val="1F2937"/>
                </a:solidFill>
              </a:defRPr>
            </a:pPr>
            <a:r>
              <a:t>• You know how many times to loop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Iterating through sequences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• Counting in a specific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Quick Examples: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393192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# While: unknown iterations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while user_input != "quit":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user_input = input("&gt; ")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297680"/>
            <a:ext cx="393192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>
                <a:solidFill>
                  <a:srgbClr val="1F2937"/>
                </a:solidFill>
                <a:latin typeface="Courier New"/>
              </a:defRPr>
            </a:pPr>
            <a:r>
              <a:t># For: known iterations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for i in range(10):</a:t>
            </a:r>
          </a:p>
          <a:p>
            <a:pPr>
              <a:defRPr sz="1800">
                <a:solidFill>
                  <a:srgbClr val="1F2937"/>
                </a:solidFill>
                <a:latin typeface="Courier New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Common Mistakes to Avoid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Infinite Loops ⚠️</a:t>
            </a:r>
          </a:p>
          <a:p>
            <a:pPr>
              <a:spcBef>
                <a:spcPts val="1000"/>
              </a:spcBef>
              <a:defRPr sz="1600">
                <a:solidFill>
                  <a:srgbClr val="4B5563"/>
                </a:solidFill>
                <a:latin typeface="Courier New"/>
              </a:defRPr>
            </a:pPr>
            <a:r>
              <a:t># Condition never changes!</a:t>
            </a:r>
          </a:p>
          <a:p>
            <a:pPr>
              <a:defRPr sz="1400">
                <a:solidFill>
                  <a:srgbClr val="1F2937"/>
                </a:solidFill>
                <a:latin typeface="Courier New"/>
              </a:defRPr>
            </a:pPr>
            <a:r>
              <a:t>count = 0</a:t>
            </a:r>
            <a:br/>
            <a:r>
              <a:t>while count &lt; 10:</a:t>
            </a:r>
            <a:br/>
            <a:r>
              <a:t>    print(count)</a:t>
            </a:r>
            <a:br/>
            <a:r>
              <a:t># Missing: count +=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828800"/>
            <a:ext cx="3840480" cy="182880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Off-by-One Errors ⚠️</a:t>
            </a:r>
          </a:p>
          <a:p>
            <a:pPr>
              <a:spcBef>
                <a:spcPts val="1000"/>
              </a:spcBef>
              <a:defRPr sz="1600">
                <a:solidFill>
                  <a:srgbClr val="4B5563"/>
                </a:solidFill>
                <a:latin typeface="Courier New"/>
              </a:defRPr>
            </a:pPr>
            <a:r>
              <a:t># Want 1-10, but get 1-9</a:t>
            </a:r>
          </a:p>
          <a:p>
            <a:pPr>
              <a:defRPr sz="1400">
                <a:solidFill>
                  <a:srgbClr val="1F2937"/>
                </a:solidFill>
                <a:latin typeface="Courier New"/>
              </a:defRPr>
            </a:pPr>
            <a:r>
              <a:t>for i in range(1, 10):</a:t>
            </a:r>
            <a:br/>
            <a:r>
              <a:t>    print(i)</a:t>
            </a:r>
            <a:br/>
            <a:br/>
            <a:r>
              <a:t># Fix: range(1, 11)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4114800" cy="201168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Wrong Indentation ⚠️</a:t>
            </a:r>
          </a:p>
          <a:p>
            <a:pPr>
              <a:spcBef>
                <a:spcPts val="1000"/>
              </a:spcBef>
              <a:defRPr sz="1600">
                <a:solidFill>
                  <a:srgbClr val="4B5563"/>
                </a:solidFill>
                <a:latin typeface="Courier New"/>
              </a:defRPr>
            </a:pPr>
            <a:r>
              <a:t># Prints once instead of 5x</a:t>
            </a:r>
          </a:p>
          <a:p>
            <a:pPr>
              <a:defRPr sz="1400">
                <a:solidFill>
                  <a:srgbClr val="1F2937"/>
                </a:solidFill>
                <a:latin typeface="Courier New"/>
              </a:defRPr>
            </a:pPr>
            <a:r>
              <a:t>for i in range(5):</a:t>
            </a:r>
            <a:br/>
            <a:r>
              <a:t>    total = i</a:t>
            </a:r>
            <a:br/>
            <a:r>
              <a:t>print(total)  # Wrong!</a:t>
            </a:r>
            <a:br/>
            <a:br/>
            <a:r>
              <a:t># Fix: indent print()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931920"/>
            <a:ext cx="3840480" cy="201168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200" b="1">
                <a:solidFill>
                  <a:srgbClr val="EF4444"/>
                </a:solidFill>
              </a:defRPr>
            </a:pPr>
            <a:r>
              <a:t>Modifying Loop Variable ⚠️</a:t>
            </a:r>
          </a:p>
          <a:p>
            <a:pPr>
              <a:spcBef>
                <a:spcPts val="1000"/>
              </a:spcBef>
              <a:defRPr sz="1600">
                <a:solidFill>
                  <a:srgbClr val="4B5563"/>
                </a:solidFill>
                <a:latin typeface="Courier New"/>
              </a:defRPr>
            </a:pPr>
            <a:r>
              <a:t># Don't change i in for loop</a:t>
            </a:r>
          </a:p>
          <a:p>
            <a:pPr>
              <a:defRPr sz="1400">
                <a:solidFill>
                  <a:srgbClr val="1F2937"/>
                </a:solidFill>
                <a:latin typeface="Courier New"/>
              </a:defRPr>
            </a:pPr>
            <a:r>
              <a:t>for i in range(5):</a:t>
            </a:r>
            <a:br/>
            <a:r>
              <a:t>    print(i)</a:t>
            </a:r>
            <a:br/>
            <a:r>
              <a:t>    i = 10  # Bad idea!</a:t>
            </a:r>
            <a:br/>
            <a:br/>
            <a:r>
              <a:t># Use while if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937"/>
                </a:solidFill>
              </a:defRPr>
            </a:pPr>
            <a:r>
              <a:t>Ready to Master Loops?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937"/>
                </a:solidFill>
              </a:defRPr>
            </a:pPr>
            <a:r>
              <a:t>Practice Time!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6400800" cy="18288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Try These Challenges:</a:t>
            </a:r>
          </a:p>
          <a:p>
            <a:pPr>
              <a:spcBef>
                <a:spcPts val="600"/>
              </a:spcBef>
              <a:defRPr sz="2000">
                <a:solidFill>
                  <a:srgbClr val="1F2937"/>
                </a:solidFill>
              </a:defRPr>
            </a:pPr>
            <a:r>
              <a:t>1. Print all even numbers from 1 to 50</a:t>
            </a:r>
          </a:p>
          <a:p>
            <a:pPr>
              <a:spcBef>
                <a:spcPts val="600"/>
              </a:spcBef>
              <a:defRPr sz="2000">
                <a:solidFill>
                  <a:srgbClr val="1F2937"/>
                </a:solidFill>
              </a:defRPr>
            </a:pPr>
            <a:r>
              <a:t>2. Create a countdown from 10 to 1</a:t>
            </a:r>
          </a:p>
          <a:p>
            <a:pPr>
              <a:spcBef>
                <a:spcPts val="600"/>
              </a:spcBef>
              <a:defRPr sz="2000">
                <a:solidFill>
                  <a:srgbClr val="1F2937"/>
                </a:solidFill>
              </a:defRPr>
            </a:pPr>
            <a:r>
              <a:t>3. Calculate the sum of numbers 1 to 100</a:t>
            </a:r>
          </a:p>
          <a:p>
            <a:pPr>
              <a:spcBef>
                <a:spcPts val="600"/>
              </a:spcBef>
              <a:defRPr sz="2000">
                <a:solidFill>
                  <a:srgbClr val="1F2937"/>
                </a:solidFill>
              </a:defRPr>
            </a:pPr>
            <a:r>
              <a:t>4. Print a multiplication table (1-10)</a:t>
            </a:r>
          </a:p>
          <a:p>
            <a:pPr>
              <a:spcBef>
                <a:spcPts val="600"/>
              </a:spcBef>
              <a:defRPr sz="2000">
                <a:solidFill>
                  <a:srgbClr val="1F2937"/>
                </a:solidFill>
              </a:defRPr>
            </a:pPr>
            <a:r>
              <a:t>5. Build a password validator with 3 attempts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4B5563"/>
                </a:solidFill>
              </a:defRPr>
            </a:pPr>
            <a:r>
              <a:t>The more you practice loops, the more powerful your programs become!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