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2937"/>
                </a:solidFill>
              </a:defRPr>
            </a:pPr>
            <a: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Working with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3383280"/>
            <a:ext cx="237744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B5563"/>
                </a:solidFill>
              </a:defRPr>
            </a:pPr>
            <a:r>
              <a:t>Interactive Programs &amp; Type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Getting User Input 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B5563"/>
                </a:solidFill>
              </a:defRPr>
            </a:pPr>
            <a:r>
              <a:t>The input() function lets users interact with your program!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Basic Syntax:</a:t>
            </a:r>
          </a:p>
          <a:p>
            <a:pPr>
              <a:spcBef>
                <a:spcPts val="10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variable = input("Prompt message")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Example:</a:t>
            </a:r>
          </a:p>
          <a:p>
            <a:pPr>
              <a:spcBef>
                <a:spcPts val="10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name = input("What is your name? ")</a:t>
            </a:r>
          </a:p>
          <a:p>
            <a:pPr>
              <a:spcBef>
                <a:spcPts val="5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print("Hello,", name)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8229600" cy="822960"/>
          </a:xfrm>
          <a:prstGeom prst="rect">
            <a:avLst/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/>
            <a:r>
              <a:rPr sz="2000" b="1">
                <a:solidFill>
                  <a:srgbClr val="1F2937"/>
                </a:solidFill>
              </a:rPr>
              <a:t>Note: </a:t>
            </a:r>
            <a:r>
              <a:rPr sz="2000">
                <a:solidFill>
                  <a:srgbClr val="1F2937"/>
                </a:solidFill>
              </a:rPr>
              <a:t>input() always returns a string (text)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46320"/>
            <a:ext cx="73152" cy="8229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The Input Problem 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❌ This Won't Work:</a:t>
            </a:r>
          </a:p>
          <a:p>
            <a:pPr>
              <a:spcBef>
                <a:spcPts val="10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age = input("How old are you? ")</a:t>
            </a:r>
          </a:p>
          <a:p>
            <a:pPr>
              <a:spcBef>
                <a:spcPts val="5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next_year = age + 1</a:t>
            </a:r>
          </a:p>
          <a:p>
            <a:pPr>
              <a:spcBef>
                <a:spcPts val="1000"/>
              </a:spcBef>
              <a:defRPr sz="1800">
                <a:solidFill>
                  <a:srgbClr val="EF4444"/>
                </a:solidFill>
                <a:latin typeface="Courier New"/>
              </a:defRPr>
            </a:pPr>
            <a:r>
              <a:t>TypeError: can only concatenate str to str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3931920" cy="1188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000" b="1">
                <a:solidFill>
                  <a:srgbClr val="1F2937"/>
                </a:solidFill>
              </a:defRPr>
            </a:pPr>
            <a:r>
              <a:t>What input() gives you:</a:t>
            </a:r>
          </a:p>
          <a:p>
            <a:pPr>
              <a:spcBef>
                <a:spcPts val="500"/>
              </a:spcBef>
              <a:defRPr sz="1800">
                <a:solidFill>
                  <a:srgbClr val="4B5563"/>
                </a:solidFill>
              </a:defRPr>
            </a:pPr>
            <a:r>
              <a:t>A string (text)</a:t>
            </a:r>
          </a:p>
          <a:p>
            <a:pPr>
              <a:spcBef>
                <a:spcPts val="500"/>
              </a:spcBef>
              <a:defRPr sz="2200" b="1">
                <a:solidFill>
                  <a:srgbClr val="2563EB"/>
                </a:solidFill>
                <a:latin typeface="Courier New"/>
              </a:defRPr>
            </a:pPr>
            <a:r>
              <a:t>"25"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291840"/>
            <a:ext cx="3931920" cy="1188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000" b="1">
                <a:solidFill>
                  <a:srgbClr val="1F2937"/>
                </a:solidFill>
              </a:defRPr>
            </a:pPr>
            <a:r>
              <a:t>What you might need:</a:t>
            </a:r>
          </a:p>
          <a:p>
            <a:pPr>
              <a:spcBef>
                <a:spcPts val="500"/>
              </a:spcBef>
              <a:defRPr sz="1800">
                <a:solidFill>
                  <a:srgbClr val="4B5563"/>
                </a:solidFill>
              </a:defRPr>
            </a:pPr>
            <a:r>
              <a:t>A number</a:t>
            </a:r>
          </a:p>
          <a:p>
            <a:pPr>
              <a:spcBef>
                <a:spcPts val="500"/>
              </a:spcBef>
              <a:defRPr sz="2200" b="1">
                <a:solidFill>
                  <a:srgbClr val="A855F7"/>
                </a:solidFill>
                <a:latin typeface="Courier New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82296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Solution: Type Conversion! 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Type Conversion 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B5563"/>
                </a:solidFill>
              </a:defRPr>
            </a:pPr>
            <a:r>
              <a:t>Converting data from one type to another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65176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int()</a:t>
            </a:r>
          </a:p>
          <a:p>
            <a:pPr>
              <a:spcBef>
                <a:spcPts val="500"/>
              </a:spcBef>
              <a:defRPr sz="1600">
                <a:solidFill>
                  <a:srgbClr val="4B5563"/>
                </a:solidFill>
              </a:defRPr>
            </a:pPr>
            <a:r>
              <a:t>Convert to integer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int("25") → 25</a:t>
            </a:r>
          </a:p>
          <a:p>
            <a:pPr>
              <a:spcBef>
                <a:spcPts val="3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int(3.9) →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920240"/>
            <a:ext cx="265176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float()</a:t>
            </a:r>
          </a:p>
          <a:p>
            <a:pPr>
              <a:spcBef>
                <a:spcPts val="500"/>
              </a:spcBef>
              <a:defRPr sz="1600">
                <a:solidFill>
                  <a:srgbClr val="4B5563"/>
                </a:solidFill>
              </a:defRPr>
            </a:pPr>
            <a:r>
              <a:t>Convert to decimal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float("3.14") → 3.14</a:t>
            </a:r>
          </a:p>
          <a:p>
            <a:pPr>
              <a:spcBef>
                <a:spcPts val="3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float(5) → 5.0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920240"/>
            <a:ext cx="265176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str()</a:t>
            </a:r>
          </a:p>
          <a:p>
            <a:pPr>
              <a:spcBef>
                <a:spcPts val="500"/>
              </a:spcBef>
              <a:defRPr sz="1600">
                <a:solidFill>
                  <a:srgbClr val="4B5563"/>
                </a:solidFill>
              </a:defRPr>
            </a:pPr>
            <a:r>
              <a:t>Convert to string</a:t>
            </a:r>
          </a:p>
          <a:p>
            <a:pPr>
              <a:spcBef>
                <a:spcPts val="10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str(25) → "25"</a:t>
            </a:r>
          </a:p>
          <a:p>
            <a:pPr>
              <a:spcBef>
                <a:spcPts val="3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str(3.14) → "3.14"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8229600" cy="2103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✓ Now This Works:</a:t>
            </a:r>
          </a:p>
          <a:p>
            <a:pPr>
              <a:spcBef>
                <a:spcPts val="10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age = input("How old are you? ")</a:t>
            </a:r>
          </a:p>
          <a:p>
            <a:pPr>
              <a:spcBef>
                <a:spcPts val="5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age = int(age)  # Convert to integer</a:t>
            </a:r>
          </a:p>
          <a:p>
            <a:pPr>
              <a:spcBef>
                <a:spcPts val="5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next_year = age + 1</a:t>
            </a:r>
          </a:p>
          <a:p>
            <a:pPr>
              <a:spcBef>
                <a:spcPts val="5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print("Next year you'll be", next_year)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Conversion Shortcut 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B5563"/>
                </a:solidFill>
              </a:defRPr>
            </a:pPr>
            <a:r>
              <a:t>You can combine input() with type conversion in one line!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931920" cy="1188720"/>
          </a:xfrm>
          <a:prstGeom prst="rect">
            <a:avLst/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Long Way:</a:t>
            </a:r>
          </a:p>
          <a:p>
            <a:pPr>
              <a:spcBef>
                <a:spcPts val="10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age = input("Age? ")</a:t>
            </a:r>
          </a:p>
          <a:p>
            <a:pPr>
              <a:spcBef>
                <a:spcPts val="5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age = int(age)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011680"/>
            <a:ext cx="3931920" cy="11887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Short Way:</a:t>
            </a:r>
          </a:p>
          <a:p>
            <a:pPr>
              <a:spcBef>
                <a:spcPts val="10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age = int(input("Age? "))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82296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More Examples:</a:t>
            </a:r>
          </a:p>
          <a:p>
            <a:pPr>
              <a:spcBef>
                <a:spcPts val="12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price = float(input("Enter price: "))</a:t>
            </a:r>
          </a:p>
          <a:p>
            <a:pPr>
              <a:spcBef>
                <a:spcPts val="8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quantity = int(input("Enter quantity: "))</a:t>
            </a:r>
          </a:p>
          <a:p>
            <a:pPr>
              <a:spcBef>
                <a:spcPts val="8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total = price * quantity</a:t>
            </a:r>
          </a:p>
          <a:p>
            <a:pPr>
              <a:spcBef>
                <a:spcPts val="8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print("Total:", total)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String Operations ✂️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2860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Concatenation (Joining)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first = "Hello"</a:t>
            </a:r>
          </a:p>
          <a:p>
            <a:pPr>
              <a:spcBef>
                <a:spcPts val="3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second = "World"</a:t>
            </a:r>
          </a:p>
          <a:p>
            <a:pPr>
              <a:spcBef>
                <a:spcPts val="3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result = first + " " + second  → "Hello World"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8229600" cy="23774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2860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Useful String Methods</a:t>
            </a:r>
          </a:p>
          <a:p>
            <a:pPr>
              <a:spcBef>
                <a:spcPts val="12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.upper() → UPPERCASE     "hello".upper() → "HELLO"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.lower() → lowercase     "HELLO".lower() → "hello"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.strip() → remove spaces     " hi ".strip() → "hi"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.replace() → swap text     "cat".replace("c", "b") → "bat"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2860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String Length</a:t>
            </a:r>
          </a:p>
          <a:p>
            <a:pPr>
              <a:spcBef>
                <a:spcPts val="5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len("Python") →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Comments in Code 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B5563"/>
                </a:solidFill>
              </a:defRPr>
            </a:pPr>
            <a:r>
              <a:t>Comments are notes for humans - Python ignores them!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Single-Line Comments:</a:t>
            </a:r>
          </a:p>
          <a:p>
            <a:pPr>
              <a:spcBef>
                <a:spcPts val="1000"/>
              </a:spcBef>
              <a:defRPr sz="2000">
                <a:solidFill>
                  <a:srgbClr val="9CA3AF"/>
                </a:solidFill>
                <a:latin typeface="Courier New"/>
              </a:defRPr>
            </a:pPr>
            <a:r>
              <a:t># This is a comment</a:t>
            </a:r>
          </a:p>
          <a:p>
            <a:pPr>
              <a:spcBef>
                <a:spcPts val="500"/>
              </a:spcBef>
              <a:defRPr sz="2000">
                <a:solidFill>
                  <a:srgbClr val="1F2937"/>
                </a:solidFill>
                <a:latin typeface="Courier New"/>
              </a:defRPr>
            </a:pPr>
            <a:r>
              <a:t>price = 99.99  # Price in dollars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Multi-Line Comments:</a:t>
            </a:r>
          </a:p>
          <a:p>
            <a:pPr>
              <a:spcBef>
                <a:spcPts val="1000"/>
              </a:spcBef>
              <a:defRPr sz="2000">
                <a:solidFill>
                  <a:srgbClr val="9CA3AF"/>
                </a:solidFill>
                <a:latin typeface="Courier New"/>
              </a:defRPr>
            </a:pPr>
            <a:r>
              <a:t>"""</a:t>
            </a:r>
          </a:p>
          <a:p>
            <a:pPr>
              <a:spcBef>
                <a:spcPts val="300"/>
              </a:spcBef>
              <a:defRPr sz="2000">
                <a:solidFill>
                  <a:srgbClr val="9CA3AF"/>
                </a:solidFill>
                <a:latin typeface="Courier New"/>
              </a:defRPr>
            </a:pPr>
            <a:r>
              <a:t>This is a longer comment</a:t>
            </a:r>
          </a:p>
          <a:p>
            <a:pPr>
              <a:spcBef>
                <a:spcPts val="300"/>
              </a:spcBef>
              <a:defRPr sz="2000">
                <a:solidFill>
                  <a:srgbClr val="9CA3AF"/>
                </a:solidFill>
                <a:latin typeface="Courier New"/>
              </a:defRPr>
            </a:pPr>
            <a:r>
              <a:t>that spans multiple lines</a:t>
            </a:r>
          </a:p>
          <a:p>
            <a:pPr>
              <a:spcBef>
                <a:spcPts val="300"/>
              </a:spcBef>
              <a:defRPr sz="2000">
                <a:solidFill>
                  <a:srgbClr val="9CA3AF"/>
                </a:solidFill>
                <a:latin typeface="Courier New"/>
              </a:defRPr>
            </a:pPr>
            <a:r>
              <a:t>"""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3931920" cy="8229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✓ Good Comments:</a:t>
            </a:r>
          </a:p>
          <a:p>
            <a:pPr>
              <a:spcBef>
                <a:spcPts val="300"/>
              </a:spcBef>
              <a:defRPr sz="1600">
                <a:solidFill>
                  <a:srgbClr val="4B5563"/>
                </a:solidFill>
              </a:defRPr>
            </a:pPr>
            <a:r>
              <a:t>Explain WHY, not WHAT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5120640"/>
            <a:ext cx="393192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Use Comments To:</a:t>
            </a:r>
          </a:p>
          <a:p>
            <a:pPr>
              <a:spcBef>
                <a:spcPts val="300"/>
              </a:spcBef>
              <a:defRPr sz="1600">
                <a:solidFill>
                  <a:srgbClr val="4B5563"/>
                </a:solidFill>
              </a:defRPr>
            </a:pPr>
            <a:r>
              <a:t>Document complex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Understanding Errors 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B5563"/>
                </a:solidFill>
              </a:defRPr>
            </a:pPr>
            <a:r>
              <a:t>Errors are normal! They help you learn and fix problems.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ValueError</a:t>
            </a:r>
          </a:p>
          <a:p>
            <a:pPr>
              <a:spcBef>
                <a:spcPts val="500"/>
              </a:spcBef>
              <a:defRPr sz="1600">
                <a:solidFill>
                  <a:srgbClr val="4B5563"/>
                </a:solidFill>
              </a:defRPr>
            </a:pPr>
            <a:r>
              <a:t>Trying to convert invalid text to number</a:t>
            </a:r>
          </a:p>
          <a:p>
            <a:pPr>
              <a:spcBef>
                <a:spcPts val="5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int("hello") → ValueError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73152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TypeError</a:t>
            </a:r>
          </a:p>
          <a:p>
            <a:pPr>
              <a:spcBef>
                <a:spcPts val="500"/>
              </a:spcBef>
              <a:defRPr sz="1600">
                <a:solidFill>
                  <a:srgbClr val="4B5563"/>
                </a:solidFill>
              </a:defRPr>
            </a:pPr>
            <a:r>
              <a:t>Mixing incompatible types</a:t>
            </a:r>
          </a:p>
          <a:p>
            <a:pPr>
              <a:spcBef>
                <a:spcPts val="5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"5" + 5 → TypeError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73152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8229600" cy="10058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SyntaxError</a:t>
            </a:r>
          </a:p>
          <a:p>
            <a:pPr>
              <a:spcBef>
                <a:spcPts val="500"/>
              </a:spcBef>
              <a:defRPr sz="1600">
                <a:solidFill>
                  <a:srgbClr val="4B5563"/>
                </a:solidFill>
              </a:defRPr>
            </a:pPr>
            <a:r>
              <a:t>Invalid Python syntax</a:t>
            </a:r>
          </a:p>
          <a:p>
            <a:pPr>
              <a:spcBef>
                <a:spcPts val="5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print("hello" → SyntaxError (missing closing parenthesis)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73152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28600"/>
          <a:lstStyle/>
          <a:p>
            <a:pPr algn="ctr"/>
            <a:r>
              <a:rPr sz="1800" b="1">
                <a:solidFill>
                  <a:srgbClr val="1F2937"/>
                </a:solidFill>
              </a:rPr>
              <a:t>💡 Tip: </a:t>
            </a:r>
            <a:r>
              <a:rPr sz="1800">
                <a:solidFill>
                  <a:srgbClr val="1F2937"/>
                </a:solidFill>
              </a:rPr>
              <a:t>Read error messages carefully - they tell you what went wrong!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</a:defRPr>
            </a:pPr>
            <a:r>
              <a:t>Interactive Program Example 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Personal Calculator</a:t>
            </a:r>
          </a:p>
          <a:p>
            <a:pPr>
              <a:spcBef>
                <a:spcPts val="1500"/>
              </a:spcBef>
              <a:defRPr sz="1800">
                <a:solidFill>
                  <a:srgbClr val="9CA3AF"/>
                </a:solidFill>
                <a:latin typeface="Courier New"/>
              </a:defRPr>
            </a:pPr>
            <a:r>
              <a:t># Get user information</a:t>
            </a:r>
          </a:p>
          <a:p>
            <a:pPr>
              <a:spcBef>
                <a:spcPts val="5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name = input("What's your name? ")</a:t>
            </a:r>
          </a:p>
          <a:p>
            <a:pPr>
              <a:spcBef>
                <a:spcPts val="5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age = int(input("How old are you? "))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500"/>
              </a:spcBef>
              <a:defRPr sz="1800">
                <a:solidFill>
                  <a:srgbClr val="9CA3AF"/>
                </a:solidFill>
                <a:latin typeface="Courier New"/>
              </a:defRPr>
            </a:pPr>
            <a:r>
              <a:t># Calculate years until retirement (assume 65)</a:t>
            </a:r>
          </a:p>
          <a:p>
            <a:pPr>
              <a:spcBef>
                <a:spcPts val="5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years_left = 65 - age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500"/>
              </a:spcBef>
              <a:defRPr sz="1800">
                <a:solidFill>
                  <a:srgbClr val="9CA3AF"/>
                </a:solidFill>
                <a:latin typeface="Courier New"/>
              </a:defRPr>
            </a:pPr>
            <a:r>
              <a:t># Format name nicely</a:t>
            </a:r>
          </a:p>
          <a:p>
            <a:pPr>
              <a:spcBef>
                <a:spcPts val="5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formatted_name = name.upper()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500"/>
              </a:spcBef>
              <a:defRPr sz="1800">
                <a:solidFill>
                  <a:srgbClr val="9CA3AF"/>
                </a:solidFill>
                <a:latin typeface="Courier New"/>
              </a:defRPr>
            </a:pPr>
            <a:r>
              <a:t># Display personalized message</a:t>
            </a:r>
          </a:p>
          <a:p>
            <a:pPr>
              <a:spcBef>
                <a:spcPts val="500"/>
              </a:spcBef>
              <a:defRPr sz="1600">
                <a:solidFill>
                  <a:srgbClr val="1F2937"/>
                </a:solidFill>
                <a:latin typeface="Courier New"/>
              </a:defRPr>
            </a:pPr>
            <a:r>
              <a:t>message = f"Hello {formatted_name}! You have {years_left} years until retirement."</a:t>
            </a:r>
          </a:p>
          <a:p>
            <a:pPr>
              <a:spcBef>
                <a:spcPts val="500"/>
              </a:spcBef>
              <a:defRPr sz="1800">
                <a:solidFill>
                  <a:srgbClr val="1F2937"/>
                </a:solidFill>
                <a:latin typeface="Courier New"/>
              </a:defRPr>
            </a:pPr>
            <a:r>
              <a:t>print(message)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Time to Build!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Create interactive programs that respond to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4297680"/>
            <a:ext cx="14630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Remember: Practice makes perfect!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